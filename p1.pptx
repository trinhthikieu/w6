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913B-2295-F9BA-BAE8-DD536FD5D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F96D2-71EC-5940-455A-76CB4A7C6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3C046-DC57-0689-F2F7-229D47BC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24250-CA15-D79C-12F5-977962F9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599E8-17E4-7802-4E9D-752BC56D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2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E18C-6600-1FA0-FF03-9E11D91C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921B-8FBB-CF98-ED02-4BF87DCB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A1A06-C7CF-E6F5-7C6B-790F6310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8E8DA-72F5-1531-4113-CEC58D67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708FE-F762-A1C7-4532-DE6A7170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4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ED1F-12A2-1255-D75C-BB23DD0A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F4565-94CF-6350-48A8-E98585CA5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80339-EF28-6335-8E0D-F2AA9F89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A2C5F-5356-1181-C400-3BCCB2F1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C0B0-7E1B-9B01-DB82-36CB053C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8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B935-A8B7-C304-436C-90F02BF8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2A9D-9056-283C-B3E6-095E96691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BDD61-589A-8494-0DF2-BC87E5FEC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6ECAE-ADB2-5E5D-B6D2-731FC6D6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14788-78B6-30A6-6B74-4DAC8F8F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7EE41-AEDF-E35D-44C2-BEAE2B6B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3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2B31-0DB3-9D06-43B4-283B9E33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1AAC-8442-3CF6-9642-AC1FA82F9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A3E3A-1F58-D0CF-7564-8D8BEAD18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14D75-D974-F189-A8C5-7D0609EEA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349F0-5099-EAB0-66B0-9DA614851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9437D-2FE3-5633-6814-CAAF3F11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F1DE6-3853-4E1B-8953-B30774A3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B7FF5-06FC-317B-2756-A0C5A0F9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EECD-CC40-0473-A7D9-794F33C5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E6A59-DE32-D3AA-9427-D42A4208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05A39-862F-4902-3B56-DF6AB80A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AB506-5954-60EF-237E-0937D483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9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84E72-21D5-37F4-0A10-D9A1D079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64C6D-17DD-4313-7BCD-6D2A640B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ABA3A-166A-26CA-2A0B-5181E29F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58A8-1864-4C91-6B0B-31FB4FCB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7D73-1A76-4899-8F60-5FDF1C901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DA137-5610-6F96-AE32-45B74BF05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C6AE5-7EB3-C105-F726-55B573DE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47C36-7E8E-1471-620A-E72FCF0D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3C7C0-4908-8E93-CE3F-6420CA34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77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8C9C-558E-A849-828B-2D978A87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E8D71-ABCC-2CF2-AEA1-2997D8ECA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38E76-6327-8124-A932-40AE6B362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EA6B4-E0BB-8F2B-BCB5-0423DDBF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DA307-EDCC-7981-36B3-55E6F13B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EE026-4A58-AE06-DFCD-3023672A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91DB-EA06-14E9-1BE5-207F42CD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41EF3-3192-EFD5-A614-83E87B002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C0162-CD36-AA2B-C3ED-C07B9030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8C743-7BA2-B577-2B08-9D697658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90C60-40F3-00F1-B85B-C40A565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A3B7D-544F-057E-F047-4A406A999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D46F4-8E3A-5F63-1EEC-36FD7FA9B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E32EC-B8DB-6A02-16E7-D44E4F4E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8B21-BBB6-B462-450E-25528D45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8F84-EA96-0476-5712-E113C9C4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0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54A7E-A4A3-C03B-402F-A009F19B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D301B-8336-C6BD-B401-4F1CB2A43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E0EEF-E82D-3B37-EA3E-4F107A05A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0C960-2B6D-4112-B905-CC4D17C9D0B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DA760-EF1C-A107-323A-E563E37D6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4220-F817-81BD-A906-C18EB5F1F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2CCDF-7D06-4A9C-9BB9-4CD8BB78E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0BFD-290E-057B-4DDC-9895FB8FD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A30A3-1740-4BB3-BD76-1A709DD4E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8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6A0A0D-7EDF-7933-9F18-D720E230C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17" y="735630"/>
            <a:ext cx="6439967" cy="56538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04F87A-62D3-1B0C-40D9-2972D81D691E}"/>
              </a:ext>
            </a:extLst>
          </p:cNvPr>
          <p:cNvSpPr/>
          <p:nvPr/>
        </p:nvSpPr>
        <p:spPr>
          <a:xfrm>
            <a:off x="205483" y="-45206"/>
            <a:ext cx="4664468" cy="6472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effectLst/>
              </a:rPr>
              <a:t>Ptotal</a:t>
            </a:r>
            <a:r>
              <a:rPr lang="en-US"/>
              <a:t>​=</a:t>
            </a:r>
            <a:r>
              <a:rPr lang="en-US">
                <a:effectLst/>
              </a:rPr>
              <a:t>Pinternal</a:t>
            </a:r>
            <a:r>
              <a:rPr lang="en-US"/>
              <a:t>​+</a:t>
            </a:r>
            <a:r>
              <a:rPr lang="en-US">
                <a:effectLst/>
              </a:rPr>
              <a:t>Pswitching</a:t>
            </a:r>
            <a:r>
              <a:rPr lang="en-US"/>
              <a:t>​+</a:t>
            </a:r>
            <a:r>
              <a:rPr lang="en-US">
                <a:effectLst/>
              </a:rPr>
              <a:t>Pleakage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3704A8-E56F-D073-459B-5386B2B17004}"/>
              </a:ext>
            </a:extLst>
          </p:cNvPr>
          <p:cNvCxnSpPr/>
          <p:nvPr/>
        </p:nvCxnSpPr>
        <p:spPr>
          <a:xfrm>
            <a:off x="3010328" y="602066"/>
            <a:ext cx="1109609" cy="466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8E5833E-73D8-C067-3E3B-F82A793C4520}"/>
              </a:ext>
            </a:extLst>
          </p:cNvPr>
          <p:cNvSpPr/>
          <p:nvPr/>
        </p:nvSpPr>
        <p:spPr>
          <a:xfrm>
            <a:off x="2537717" y="1058238"/>
            <a:ext cx="2958957" cy="4931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2D94C4-DE77-8E15-4A54-734E7C7BC6DB}"/>
              </a:ext>
            </a:extLst>
          </p:cNvPr>
          <p:cNvSpPr/>
          <p:nvPr/>
        </p:nvSpPr>
        <p:spPr>
          <a:xfrm>
            <a:off x="5928189" y="1058238"/>
            <a:ext cx="1119883" cy="3287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BA441-B0FF-D364-716A-96DBFA16D0AF}"/>
              </a:ext>
            </a:extLst>
          </p:cNvPr>
          <p:cNvSpPr txBox="1"/>
          <p:nvPr/>
        </p:nvSpPr>
        <p:spPr>
          <a:xfrm>
            <a:off x="7060474" y="1058238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dirty="0"/>
              <a:t>Dynamic power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0BFC6-EB60-0F55-2B51-519213B6F261}"/>
              </a:ext>
            </a:extLst>
          </p:cNvPr>
          <p:cNvSpPr/>
          <p:nvPr/>
        </p:nvSpPr>
        <p:spPr>
          <a:xfrm>
            <a:off x="4715838" y="1921267"/>
            <a:ext cx="904126" cy="177743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62719-7678-D0DC-DF30-93551F5FC73E}"/>
              </a:ext>
            </a:extLst>
          </p:cNvPr>
          <p:cNvSpPr/>
          <p:nvPr/>
        </p:nvSpPr>
        <p:spPr>
          <a:xfrm>
            <a:off x="2414427" y="2876764"/>
            <a:ext cx="6439967" cy="216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9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4D15B1-F662-92CC-D877-18E6A9C8C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23894"/>
              </p:ext>
            </p:extLst>
          </p:nvPr>
        </p:nvGraphicFramePr>
        <p:xfrm>
          <a:off x="1300537" y="590764"/>
          <a:ext cx="7886700" cy="1463040"/>
        </p:xfrm>
        <a:graphic>
          <a:graphicData uri="http://schemas.openxmlformats.org/drawingml/2006/table">
            <a:tbl>
              <a:tblPr/>
              <a:tblGrid>
                <a:gridCol w="1524856">
                  <a:extLst>
                    <a:ext uri="{9D8B030D-6E8A-4147-A177-3AD203B41FA5}">
                      <a16:colId xmlns:a16="http://schemas.microsoft.com/office/drawing/2014/main" val="2964047185"/>
                    </a:ext>
                  </a:extLst>
                </a:gridCol>
                <a:gridCol w="4952144">
                  <a:extLst>
                    <a:ext uri="{9D8B030D-6E8A-4147-A177-3AD203B41FA5}">
                      <a16:colId xmlns:a16="http://schemas.microsoft.com/office/drawing/2014/main" val="165090422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3886760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Thành </a:t>
                      </a:r>
                      <a:r>
                        <a:rPr lang="en-US" dirty="0" err="1"/>
                        <a:t>phần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Tổng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nhóm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310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3.037+22.94+6.863+0.1184+0.2816 = 33.24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33.24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895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Switching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1.268+0.299+9.591 = 11.158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753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1.941+0.4304+8.301+0.0706+0.0752 = 10.82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3931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BD8DFE-BAFD-3D6E-A698-836901ABED0D}"/>
              </a:ext>
            </a:extLst>
          </p:cNvPr>
          <p:cNvSpPr txBox="1"/>
          <p:nvPr/>
        </p:nvSpPr>
        <p:spPr>
          <a:xfrm>
            <a:off x="1300536" y="2733597"/>
            <a:ext cx="9158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Combinational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switching </a:t>
            </a:r>
            <a:r>
              <a:rPr lang="en-US" dirty="0" err="1"/>
              <a:t>cao</a:t>
            </a:r>
            <a:r>
              <a:rPr lang="en-US" dirty="0"/>
              <a:t> (9.591) </a:t>
            </a:r>
            <a:r>
              <a:rPr lang="en-US" dirty="0" err="1"/>
              <a:t>và</a:t>
            </a:r>
            <a:r>
              <a:rPr lang="en-US" dirty="0"/>
              <a:t> leakage </a:t>
            </a:r>
            <a:r>
              <a:rPr lang="en-US" dirty="0" err="1"/>
              <a:t>cao</a:t>
            </a:r>
            <a:r>
              <a:rPr lang="en-US" dirty="0"/>
              <a:t> (8.301, </a:t>
            </a:r>
            <a:r>
              <a:rPr lang="en-US" dirty="0" err="1"/>
              <a:t>tức</a:t>
            </a:r>
            <a:r>
              <a:rPr lang="en-US" dirty="0"/>
              <a:t> 33.5%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).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cell LVT/size </a:t>
            </a:r>
            <a:r>
              <a:rPr lang="en-US" dirty="0" err="1"/>
              <a:t>lớn</a:t>
            </a:r>
            <a:r>
              <a:rPr lang="en-US" dirty="0"/>
              <a:t> do optimize timing,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toggle rate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2FD79A-6C08-0A0D-C671-F69037F29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3" y="3786900"/>
            <a:ext cx="117551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Power: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cell,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dòng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ngắn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Switching Power: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ngoài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cell,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gồm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phía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Leakage Power: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dòng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transistor.</a:t>
            </a:r>
          </a:p>
        </p:txBody>
      </p:sp>
    </p:spTree>
    <p:extLst>
      <p:ext uri="{BB962C8B-B14F-4D97-AF65-F5344CB8AC3E}">
        <p14:creationId xmlns:p14="http://schemas.microsoft.com/office/powerpoint/2010/main" val="2966807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54B92E-8E27-D0F6-D935-6A57ADE9F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19378"/>
              </p:ext>
            </p:extLst>
          </p:nvPr>
        </p:nvGraphicFramePr>
        <p:xfrm>
          <a:off x="1639244" y="1377679"/>
          <a:ext cx="8071032" cy="4404750"/>
        </p:xfrm>
        <a:graphic>
          <a:graphicData uri="http://schemas.openxmlformats.org/drawingml/2006/table">
            <a:tbl>
              <a:tblPr/>
              <a:tblGrid>
                <a:gridCol w="2017758">
                  <a:extLst>
                    <a:ext uri="{9D8B030D-6E8A-4147-A177-3AD203B41FA5}">
                      <a16:colId xmlns:a16="http://schemas.microsoft.com/office/drawing/2014/main" val="2881718869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817769298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4196885626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3766271333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Vấn đề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Dẫn chứng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Solution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0183" marR="70183" marT="35091" marB="35091"/>
                </a:tc>
                <a:extLst>
                  <a:ext uri="{0D108BD9-81ED-4DB2-BD59-A6C34878D82A}">
                    <a16:rowId xmlns:a16="http://schemas.microsoft.com/office/drawing/2014/main" val="1720532943"/>
                  </a:ext>
                </a:extLst>
              </a:tr>
              <a:tr h="1544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S1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Macro internal quá cao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22.94 mW = 41.5% tổng chip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Gating chip-enable/clock của macro khi idle; chia bank; dùng activity thực (VCD/SAIF) thay vì vectorless; tách chế độ MBIST và functional khi đo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530614618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S2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 switching cao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9.591 mW = 17.4% tổng chip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Operand isolation, giảm glitch, power-driven placement (giảm wire cap), clock gating cho register cuối datapath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4185415907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S3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 leakage cao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8.301 mW = 15.0% tổng chip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Swap LVT→HVT/SVT trên path còn slack, giảm over-sizing (optPower)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92089248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S4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400"/>
                        <a:t>Clock chưa đại diện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Switching = 0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Chạy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lại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sau</a:t>
                      </a:r>
                      <a:r>
                        <a:rPr lang="en-US" sz="1400" dirty="0"/>
                        <a:t> CTS </a:t>
                      </a:r>
                      <a:r>
                        <a:rPr lang="en-US" sz="1400" dirty="0" err="1"/>
                        <a:t>với</a:t>
                      </a:r>
                      <a:r>
                        <a:rPr lang="en-US" sz="1400" dirty="0"/>
                        <a:t> propagated clock, </a:t>
                      </a:r>
                      <a:r>
                        <a:rPr lang="en-US" sz="1400" dirty="0" err="1"/>
                        <a:t>dùng</a:t>
                      </a:r>
                      <a:r>
                        <a:rPr lang="en-US" sz="1400" dirty="0"/>
                        <a:t> clock gating cell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70386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94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D6070B-E95A-325E-7D02-C8A08A25E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17730"/>
              </p:ext>
            </p:extLst>
          </p:nvPr>
        </p:nvGraphicFramePr>
        <p:xfrm>
          <a:off x="838200" y="479313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258838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97980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04172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/>
                        <a:t>Đại lượng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Công thức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Kết quả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(Internal + Switching)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33.24 + 11.16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44.40 mW (80.4%)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759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10.82 / 55.22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19.6%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48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Dòng tổng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55.22 / 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68.2 mA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154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Dòng leakage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10.82 / 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13.4 mA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10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Dòng 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44.40 / 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54.8 mA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54613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32D4E1-405D-F34A-E27B-BD66FF19D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37458"/>
              </p:ext>
            </p:extLst>
          </p:nvPr>
        </p:nvGraphicFramePr>
        <p:xfrm>
          <a:off x="838200" y="2880360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776613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89522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842506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65207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nhóm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chip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55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clk_in_525MHZ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0.5057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92.7%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047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4 × BSRAM_WEN_CLK_x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0.0400 (0.01 mỗi nhánh)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7.3% (1.83% mỗi nhánh)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5608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05D1-5A3B-B2A0-0F00-33F12FFF5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070558"/>
              </p:ext>
            </p:extLst>
          </p:nvPr>
        </p:nvGraphicFramePr>
        <p:xfrm>
          <a:off x="838200" y="4126078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836328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52141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8156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Bảng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Khớp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954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55.2196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69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8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Rail (VCCK)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783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0.5457 = Clock (Comb) 0.189 + Clock (Seq) 0.3567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850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56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99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400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khuong trinh</dc:creator>
  <cp:lastModifiedBy>khuong trinh</cp:lastModifiedBy>
  <cp:revision>3</cp:revision>
  <dcterms:created xsi:type="dcterms:W3CDTF">2026-10-26T14:59:55Z</dcterms:created>
  <dcterms:modified xsi:type="dcterms:W3CDTF">2026-10-26T15:20:09Z</dcterms:modified>
</cp:coreProperties>
</file>